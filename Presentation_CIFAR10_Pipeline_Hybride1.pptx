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-533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fr-F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FC857"/>
            </a:solidFill>
            <a:effectLst/>
          </c:spPr>
          <c:dPt>
            <c:idx val="0"/>
          </c:dPt>
          <c:dPt>
            <c:idx val="1"/>
            <c:spPr>
              <a:solidFill>
                <a:srgbClr val="29C5F6"/>
              </a:solidFill>
              <a:effectLst/>
            </c:spPr>
          </c:dPt>
          <c:dPt>
            <c:idx val="2"/>
            <c:spPr>
              <a:solidFill>
                <a:srgbClr val="29C5F6"/>
              </a:solidFill>
              <a:effectLst/>
            </c:spPr>
          </c:dPt>
          <c:dPt>
            <c:idx val="3"/>
            <c:spPr>
              <a:solidFill>
                <a:srgbClr val="29C5F6"/>
              </a:solidFill>
              <a:effectLst/>
            </c:spPr>
          </c:dPt>
          <c:dPt>
            <c:idx val="4"/>
            <c:spPr>
              <a:solidFill>
                <a:srgbClr val="29C5F6"/>
              </a:solidFill>
              <a:effectLst/>
            </c:spPr>
          </c:dPt>
          <c:dPt>
            <c:idx val="5"/>
            <c:spPr>
              <a:solidFill>
                <a:srgbClr val="29C5F6"/>
              </a:solidFill>
              <a:effectLst/>
            </c:spPr>
          </c:dPt>
          <c:dLbls>
            <c:numFmt formatCode="0.0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B2A41"/>
                    </a:solidFill>
                    <a:latin typeface="Arial"/>
                  </a:defRPr>
                </a:pPr>
                <a:endParaRPr lang="fr-FR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LightGBM+PCA</c:v>
                </c:pt>
                <c:pt idx="1">
                  <c:v>Stacking+PCA</c:v>
                </c:pt>
                <c:pt idx="2">
                  <c:v>XGBoost+PCA</c:v>
                </c:pt>
                <c:pt idx="3">
                  <c:v>Random Forest</c:v>
                </c:pt>
                <c:pt idx="4">
                  <c:v>RF+PCA</c:v>
                </c:pt>
                <c:pt idx="5">
                  <c:v>RF+UMAP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85.92</c:v>
                </c:pt>
                <c:pt idx="1">
                  <c:v>85.51</c:v>
                </c:pt>
                <c:pt idx="2">
                  <c:v>85.38</c:v>
                </c:pt>
                <c:pt idx="3">
                  <c:v>82.61999999999999</c:v>
                </c:pt>
                <c:pt idx="4">
                  <c:v>82.13</c:v>
                </c:pt>
                <c:pt idx="5">
                  <c:v>81.55</c:v>
                </c:pt>
              </c:numCache>
            </c:numRef>
          </c:val>
        </c:ser>
        <c:dLbls>
          <c:showVal val="1"/>
        </c:dLbls>
        <c:axId val="179022848"/>
        <c:axId val="179032832"/>
      </c:barChart>
      <c:catAx>
        <c:axId val="17902284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Arial"/>
              </a:defRPr>
            </a:pPr>
            <a:endParaRPr lang="fr-FR"/>
          </a:p>
        </c:txPr>
        <c:crossAx val="179032832"/>
        <c:crosses val="autoZero"/>
        <c:auto val="1"/>
        <c:lblAlgn val="ctr"/>
        <c:lblOffset val="100"/>
        <c:noMultiLvlLbl val="1"/>
      </c:catAx>
      <c:valAx>
        <c:axId val="179032832"/>
        <c:scaling>
          <c:orientation val="minMax"/>
          <c:max val="90"/>
          <c:min val="75"/>
        </c:scaling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fr-FR"/>
          </a:p>
        </c:txPr>
        <c:crossAx val="179022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fr-F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Temps (s)</c:v>
                </c:pt>
              </c:strCache>
            </c:strRef>
          </c:tx>
          <c:spPr>
            <a:solidFill>
              <a:srgbClr val="2EC4B6"/>
            </a:solidFill>
            <a:effectLst/>
          </c:spPr>
          <c:dPt>
            <c:idx val="0"/>
          </c:dPt>
          <c:dPt>
            <c:idx val="1"/>
          </c:dPt>
          <c:dPt>
            <c:idx val="2"/>
          </c:dPt>
          <c:dPt>
            <c:idx val="3"/>
          </c:dPt>
          <c:dPt>
            <c:idx val="4"/>
            <c:spPr>
              <a:solidFill>
                <a:srgbClr val="FFC857"/>
              </a:solidFill>
              <a:effectLst/>
            </c:spPr>
          </c:dPt>
          <c:dPt>
            <c:idx val="5"/>
          </c:dPt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RF</c:v>
                </c:pt>
                <c:pt idx="1">
                  <c:v>RF+PCA</c:v>
                </c:pt>
                <c:pt idx="2">
                  <c:v>RF+UMAP</c:v>
                </c:pt>
                <c:pt idx="3">
                  <c:v>XGB+PCA</c:v>
                </c:pt>
                <c:pt idx="4">
                  <c:v>LGBM+PCA</c:v>
                </c:pt>
                <c:pt idx="5">
                  <c:v>Stacking+PCA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427.64000000000004</c:v>
                </c:pt>
                <c:pt idx="1">
                  <c:v>320.89999999999998</c:v>
                </c:pt>
                <c:pt idx="2">
                  <c:v>350.5</c:v>
                </c:pt>
                <c:pt idx="3">
                  <c:v>209.9</c:v>
                </c:pt>
                <c:pt idx="4">
                  <c:v>150.6</c:v>
                </c:pt>
                <c:pt idx="5">
                  <c:v>500.1</c:v>
                </c:pt>
              </c:numCache>
            </c:numRef>
          </c:val>
        </c:ser>
        <c:dLbls>
          <c:showVal val="1"/>
        </c:dLbls>
        <c:axId val="179493504"/>
        <c:axId val="179495296"/>
      </c:barChart>
      <c:catAx>
        <c:axId val="17949350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79495296"/>
        <c:crosses val="autoZero"/>
        <c:auto val="1"/>
        <c:lblAlgn val="ctr"/>
        <c:lblOffset val="100"/>
        <c:noMultiLvlLbl val="1"/>
      </c:catAx>
      <c:valAx>
        <c:axId val="179495296"/>
        <c:scaling>
          <c:orientation val="minMax"/>
        </c:scaling>
        <c:axPos val="l"/>
        <c:majorGridlines>
          <c:spPr>
            <a:ln w="9525" cap="flat">
              <a:solidFill>
                <a:srgbClr val="29456E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fr-FR"/>
          </a:p>
        </c:txPr>
        <c:crossAx val="179493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F3A"/>
    </a:solidFill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926080"/>
            <a:ext cx="2926080" cy="292608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548640"/>
            <a:ext cx="109728" cy="109728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280160"/>
            <a:ext cx="109728" cy="109728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194560"/>
            <a:ext cx="109728" cy="109728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2651760"/>
            <a:ext cx="109728" cy="109728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3383280"/>
            <a:ext cx="109728" cy="109728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9" name="Shape 7"/>
          <p:cNvSpPr/>
          <p:nvPr/>
        </p:nvSpPr>
        <p:spPr>
          <a:xfrm>
            <a:off x="11704320" y="914400"/>
            <a:ext cx="109728" cy="109728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INTÉGRATEUR — AML &amp; ADL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Hybride Deep Learning – Machine Learning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la Classification d'Images CIFAR-10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UMAP</a:t>
            </a: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LightGBM · Stacking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847208"/>
            <a:ext cx="6400800" cy="1462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abdellahi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bah C34602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Mariem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Abeidallah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C18948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Ahmed said C34666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Dr.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Rivaa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Sadegh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309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</a:t>
            </a:r>
            <a:r>
              <a:rPr lang="en-US" sz="120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</a:t>
            </a:r>
            <a:r>
              <a:rPr lang="en-US" sz="1200" smtClean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smtClean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MLDS&amp;NLPCV</a:t>
            </a:r>
            <a:r>
              <a:rPr lang="en-US" sz="1200" smtClean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Juin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une approche hybride 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7F1FB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pptx/icons/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3024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d'entraînement élevé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un CNN profond de bout en bout exige des ressources matérielles importantes et beaucoup de données annotées.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7F1FB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148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home/claude/pptx/icons/ey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219" y="23024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 d'interprétabilité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00600" y="36118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applications nécessitent des modèles plus simples à analyser et à expliquer.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E7F1FB"/>
          </a:solidFill>
          <a:ln/>
          <a:effectLst>
            <a:outerShdw blurRad="101600" dist="381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1488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/home/claude/pptx/icons/roc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699" y="23024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2926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: approche hybride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41080" y="36118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un réseau pré-entraîné (extracteur de features) avec des algorithmes ML classiques rapides et flexibles.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classification d'images est une tâche fondamentale de la vision par ordinateur, portée par les avancées du Deep Learning et des réseaux convolutifs (CNN).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Concevoir et évaluer un pipeline hybride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9952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automatiquement des deep features avec ResNet18 pré-entraîné sur ImageNet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1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836469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7004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deux techniques de réduction de dimension : PCA et UMAP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1520" y="3557016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677717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51129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plusieurs algorithmes de Machine Learning : Random Forest, XGBoost, LightGBM, Stacking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731520" y="4398264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3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518965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3525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performances (accuracy) et les temps d'exécution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731520" y="5239512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4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360213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51937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 les résultats avec SHAP pour la transparence du modèle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 CIFAR-10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84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couleur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19842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× 32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par image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758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distinctes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35661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367588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50 000 / 10 000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40480" y="4434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10 catégories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949440" y="2331720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72600" y="2331720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3317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3044952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044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72600" y="3044952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3044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9440" y="3758184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7581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72600" y="3758184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9372600" y="37581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4471416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44714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372600" y="4471416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9372600" y="44714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49440" y="5184648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34" name="Text 32"/>
          <p:cNvSpPr/>
          <p:nvPr/>
        </p:nvSpPr>
        <p:spPr>
          <a:xfrm>
            <a:off x="6949440" y="51846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372600" y="5184648"/>
            <a:ext cx="2240280" cy="566928"/>
          </a:xfrm>
          <a:prstGeom prst="roundRect">
            <a:avLst>
              <a:gd name="adj" fmla="val 48387"/>
            </a:avLst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9372600" y="518464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Canadian Institute for Advanced Research (CIFAR) — référence standard pour la classification d'images.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VUE D'ENSEMBLE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 Hybride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2487168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pptx/icons/ima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254" y="261884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15468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354787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(32×32)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9424" y="29900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0" name="Image 1" descr="/home/claude/pptx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306324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96312" y="228600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67812" y="2487168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3" name="Image 2" descr="/home/claude/pptx/icons/cu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9486" y="261884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9464" y="315468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69464" y="354787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Extracteur pré-entraîné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105656" y="29900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3" descr="/home/claude/pptx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306324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352544" y="228600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924044" y="2487168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4" descr="/home/claude/pptx/icons/lay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5718" y="2618842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25696" y="315468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Features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425696" y="354787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profond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961888" y="29900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4" name="Image 5" descr="/home/claude/pptx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06324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08776" y="228600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780276" y="2487168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6" descr="/home/claude/pptx/icons/compres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1950" y="2618842"/>
            <a:ext cx="285293" cy="28529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81928" y="315468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UMAP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6281928" y="354787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dimension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7818120" y="29900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1" name="Image 7" descr="/home/claude/pptx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063240"/>
            <a:ext cx="182880" cy="18288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065008" y="228600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8636508" y="2487168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4" name="Image 8" descr="/home/claude/pptx/icons/tre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8182" y="2618842"/>
            <a:ext cx="285293" cy="28529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138160" y="315468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ML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8138160" y="354787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XGB, LGBM, Stacking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9674352" y="2990088"/>
            <a:ext cx="329184" cy="329184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8" name="Image 9" descr="/home/claude/pptx/icons/arrow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3063240"/>
            <a:ext cx="182880" cy="18288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921240" y="228600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40" name="Shape 28"/>
          <p:cNvSpPr/>
          <p:nvPr/>
        </p:nvSpPr>
        <p:spPr>
          <a:xfrm>
            <a:off x="10492740" y="2487168"/>
            <a:ext cx="548640" cy="548640"/>
          </a:xfrm>
          <a:prstGeom prst="ellipse">
            <a:avLst/>
          </a:prstGeom>
          <a:solidFill>
            <a:srgbClr val="29C5F6"/>
          </a:solidFill>
          <a:ln/>
        </p:spPr>
      </p:sp>
      <p:pic>
        <p:nvPicPr>
          <p:cNvPr id="41" name="Image 10" descr="/home/claude/pptx/icons/trophy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4414" y="2618842"/>
            <a:ext cx="285293" cy="285293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9994392" y="3154680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400" dirty="0"/>
          </a:p>
        </p:txBody>
      </p:sp>
      <p:sp>
        <p:nvSpPr>
          <p:cNvPr id="43" name="Text 30"/>
          <p:cNvSpPr/>
          <p:nvPr/>
        </p:nvSpPr>
        <p:spPr>
          <a:xfrm>
            <a:off x="9994392" y="354787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finale</a:t>
            </a:r>
            <a:endParaRPr lang="en-US" sz="1050" dirty="0"/>
          </a:p>
        </p:txBody>
      </p:sp>
      <p:sp>
        <p:nvSpPr>
          <p:cNvPr id="44" name="Text 31"/>
          <p:cNvSpPr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exploite la puissance de représentation d'un réseau profond sans nécessiter son entraînement complet, puis confie la décision finale à des algorithmes de Machine Learning rapides et performants.</a:t>
            </a:r>
            <a:endParaRPr lang="en-US" sz="1500" dirty="0"/>
          </a:p>
        </p:txBody>
      </p:sp>
      <p:sp>
        <p:nvSpPr>
          <p:cNvPr id="45" name="Text 3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EXTRACTION DE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ResNet18 comme Extracteur de Caractéristiques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: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d'un modèle pré-entraîné sur ImageNet.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Connexions résiduelles :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facilitent l'apprentissage de réseaux profonds (He et al., 2015).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couche supprimée : 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partie « extraction » du réseau est conservée.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1965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/home/claude/pptx/icons/ima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619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173736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CIFAR-10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(resize)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30768" y="2852928"/>
            <a:ext cx="329184" cy="329184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329184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0" y="35204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/home/claude/pptx/icons/cub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619" y="36740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32918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(pré-entraîné ImageNet)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430768" y="4407408"/>
            <a:ext cx="329184" cy="329184"/>
          </a:xfrm>
          <a:prstGeom prst="ellipse">
            <a:avLst/>
          </a:prstGeom>
          <a:solidFill>
            <a:srgbClr val="29C5F6"/>
          </a:solidFill>
          <a:ln/>
        </p:spPr>
      </p:sp>
      <p:sp>
        <p:nvSpPr>
          <p:cNvPr id="15" name="Shape 11"/>
          <p:cNvSpPr/>
          <p:nvPr/>
        </p:nvSpPr>
        <p:spPr>
          <a:xfrm>
            <a:off x="6675120" y="48463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13294B"/>
          </a:solidFill>
          <a:ln/>
        </p:spPr>
      </p:sp>
      <p:sp>
        <p:nvSpPr>
          <p:cNvPr id="16" name="Shape 12"/>
          <p:cNvSpPr/>
          <p:nvPr/>
        </p:nvSpPr>
        <p:spPr>
          <a:xfrm>
            <a:off x="6858000" y="50749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2" descr="/home/claude/pptx/icons/lay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619" y="52285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26680" y="48463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Deep Features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8064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13294B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8064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caractéristiques profondes par image — description compacte et riche du contenu visuel.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RÉDUCTION DE DIMENSION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Réduction par PCA</a:t>
            </a:r>
            <a:endParaRPr lang="en-US" sz="3200" dirty="0"/>
          </a:p>
        </p:txBody>
      </p:sp>
      <p:pic>
        <p:nvPicPr>
          <p:cNvPr id="4" name="Image 0" descr="/home/claude/work/images/img-009-00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83080"/>
            <a:ext cx="5760720" cy="3904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715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Variance expliquée cumulée selon le nombre de composantes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0" y="182880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→ </a:t>
            </a:r>
            <a:r>
              <a:rPr lang="en-US" sz="3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13232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(composantes principales)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352044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132320" y="4343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variance totale conservée après réduction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52120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: diminution du temps de calcul, réduction du bruit, simplification de l'espace de représentation.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RÉDUCTION DE DIMENSION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Réduction par UMAP</a:t>
            </a:r>
            <a:endParaRPr lang="en-US" sz="3200" dirty="0"/>
          </a:p>
        </p:txBody>
      </p:sp>
      <p:pic>
        <p:nvPicPr>
          <p:cNvPr id="4" name="Image 0" descr="/home/claude/work/images/img-010-0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691640"/>
            <a:ext cx="5212080" cy="4050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Projection UMAP 2D des deep features, colorée par classe (0-9)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 → </a:t>
            </a:r>
            <a:r>
              <a:rPr lang="en-US" sz="2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dimensions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non linéaire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préserve les relations de voisinage entre observations (contrairement à PCA, linéaire).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projection 2D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visualiser la structure des données.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: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points d'une même classe tendent à se regrouper → les deep features de ResNet18 sont discriminantes.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MODÈLES DE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Algorithmes Évalués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3294B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24028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/home/claude/pptx/icons/tre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24048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d'arbres de décision, vote majoritaire.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166360"/>
            <a:ext cx="2331720" cy="9144"/>
          </a:xfrm>
          <a:prstGeom prst="rect">
            <a:avLst/>
          </a:prstGeom>
          <a:noFill/>
          <a:ln w="12700">
            <a:solidFill>
              <a:srgbClr val="2A3F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 · random_state = 42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66160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3294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24028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/home/claude/pptx/icons/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40487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749040" y="3703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: chaque arbre corrige les erreurs précédentes.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749040" y="5166360"/>
            <a:ext cx="2331720" cy="9144"/>
          </a:xfrm>
          <a:prstGeom prst="rect">
            <a:avLst/>
          </a:prstGeom>
          <a:noFill/>
          <a:ln w="12700">
            <a:solidFill>
              <a:srgbClr val="2A3F6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9040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estimateurs · profondeur = 8 · lr = 0.1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92240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3294B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0" y="224028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0" name="Image 2" descr="/home/claude/pptx/icons/rock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40487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675120" y="3703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optimisé : rapide et peu coûteux en mémoire.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675120" y="5166360"/>
            <a:ext cx="2331720" cy="9144"/>
          </a:xfrm>
          <a:prstGeom prst="rect">
            <a:avLst/>
          </a:prstGeom>
          <a:noFill/>
          <a:ln w="12700">
            <a:solidFill>
              <a:srgbClr val="2A3F6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75120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 · faible mémoire · excellentes perfs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418320" y="192024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3294B"/>
          </a:solidFill>
          <a:ln/>
        </p:spPr>
      </p:sp>
      <p:sp>
        <p:nvSpPr>
          <p:cNvPr id="26" name="Shape 21"/>
          <p:cNvSpPr/>
          <p:nvPr/>
        </p:nvSpPr>
        <p:spPr>
          <a:xfrm>
            <a:off x="10424160" y="2240280"/>
            <a:ext cx="685800" cy="6858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7" name="Image 3" descr="/home/claude/pptx/icons/sta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2" y="240487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55480" y="3108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601200" y="3703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plusieurs modèles via un méta-modèle.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601200" y="5166360"/>
            <a:ext cx="2331720" cy="9144"/>
          </a:xfrm>
          <a:prstGeom prst="rect">
            <a:avLst/>
          </a:prstGeom>
          <a:noFill/>
          <a:ln w="12700">
            <a:solidFill>
              <a:srgbClr val="2A3F6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601200" y="53035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les forces complémentaires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PERFORMANCES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Performances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822960" y="1828800"/>
          <a:ext cx="6583680" cy="4224528"/>
        </p:xfrm>
        <a:graphic>
          <a:graphicData uri="http://schemas.openxmlformats.org/drawingml/2006/table">
            <a:tbl>
              <a:tblPr/>
              <a:tblGrid>
                <a:gridCol w="4389120"/>
                <a:gridCol w="2194560"/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PCA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UMAP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+ PCA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+ PCA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Stacking + PCA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2880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0B1F3A"/>
          </a:solidFill>
          <a:ln/>
          <a:effectLst>
            <a:outerShdw blurRad="101600" dist="38100" dir="5400000" algn="bl" rotWithShape="0">
              <a:srgbClr val="1B2A41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83880" y="2194560"/>
            <a:ext cx="777240" cy="77724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7" name="Image 0" descr="/home/claude/pptx/icons/troph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18" y="23810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0" y="31089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863840" y="35204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+ PCA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863840" y="4114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85.92 %</a:t>
            </a:r>
            <a:endParaRPr lang="en-US" sz="4800" dirty="0"/>
          </a:p>
        </p:txBody>
      </p:sp>
      <p:sp>
        <p:nvSpPr>
          <p:cNvPr id="4" name="Text 7"/>
          <p:cNvSpPr/>
          <p:nvPr/>
        </p:nvSpPr>
        <p:spPr>
          <a:xfrm>
            <a:off x="8092440" y="5029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d'accuracy sur le jeu de test CIFAR-10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VISUALISATION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par Modèle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83080"/>
          <a:ext cx="108813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méthodes de boosting (XGBoost, LightGBM, Stacking) combinées à PCA dominent nettement les approches Random Forest.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EFFICACITÉ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d'Exécution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830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2880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13294B"/>
          </a:solidFill>
          <a:ln/>
        </p:spPr>
      </p:sp>
      <p:sp>
        <p:nvSpPr>
          <p:cNvPr id="6" name="Shape 3"/>
          <p:cNvSpPr/>
          <p:nvPr/>
        </p:nvSpPr>
        <p:spPr>
          <a:xfrm>
            <a:off x="8183880" y="2194560"/>
            <a:ext cx="777240" cy="7772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/home/claude/pptx/icons/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418" y="23810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0" y="3108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150.6 s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863840" y="37947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PCA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092440" y="4343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le plus court parmi tous les modèles testés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092440" y="50749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réduit significativement le coût computationnel par rapport aux features brutes ou à UMAP.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SYNTHÈSE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Classement Global des Modèles</a:t>
            </a:r>
            <a:endParaRPr lang="en-US" sz="3200" dirty="0"/>
          </a:p>
        </p:txBody>
      </p:sp>
      <p:pic>
        <p:nvPicPr>
          <p:cNvPr id="4" name="Image 0" descr="/home/claude/work/images/img-012-0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783080"/>
            <a:ext cx="54864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Comparaison des modèles hybrides DL + ML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PCA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062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85.92 %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40487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404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+ PCA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06240" y="2404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85.51 %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02666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3026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PCA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06240" y="3026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85.38 %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364845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36484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206240" y="3648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82.62 %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427024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4270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PCA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206240" y="4270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82.13 %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34440" y="4892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UMAP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206240" y="4892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81.55 %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méthodes de boosting dominent clairement les approches basées sur Random Forest.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 des Modèles avec SHAP</a:t>
            </a:r>
            <a:endParaRPr lang="en-US" sz="3200" dirty="0"/>
          </a:p>
        </p:txBody>
      </p:sp>
      <p:pic>
        <p:nvPicPr>
          <p:cNvPr id="4" name="Image 0" descr="/home/claude/work/images/img-013-0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737360"/>
            <a:ext cx="566928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Importance globale des caractéristiques selon SHAP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la théorie des jeux coopératifs : mesure la contribution de chaque caractéristique à la prédiction.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1" descr="/home/claude/pptx/icons/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482035"/>
            <a:ext cx="213970" cy="2139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3558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locale des prédictions individuelles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/home/claude/pptx/icons/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407639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9502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globale du comportement du modèle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457200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3" descr="/home/claude/pptx/icons/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4670755"/>
            <a:ext cx="213970" cy="2139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4544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caractéristiques les plus influentes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5166360"/>
            <a:ext cx="411480" cy="4114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4" descr="/home/claude/pptx/icons/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5265115"/>
            <a:ext cx="213970" cy="2139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5138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 la confiance dans les résultats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Résultats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pptx/icons/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&gt; Random Forest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et LightGBM exploitent plus efficacement les relations complexes des deep features.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1031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/home/claude/pptx/icons/compre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499" y="22567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Intérêt de PCA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3429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 fortement l'espace de représentation tout en conservant l'essentiel de l'information (81 %).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E7F1FB"/>
          </a:solidFill>
          <a:ln/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/home/claude/pptx/icons/netwo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979" y="22567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UMAP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95360" y="3429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 baisse de performance due à la perte d'informations lors de la projection non linéaire.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B1F3A"/>
          </a:solidFill>
          <a:ln/>
        </p:spPr>
      </p:sp>
      <p:sp>
        <p:nvSpPr>
          <p:cNvPr id="20" name="Shape 15"/>
          <p:cNvSpPr/>
          <p:nvPr/>
        </p:nvSpPr>
        <p:spPr>
          <a:xfrm>
            <a:off x="960120" y="4983480"/>
            <a:ext cx="822960" cy="8229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1" name="Image 3" descr="/home/claude/pptx/icons/troph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630" y="518099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03120" y="48006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Meilleur compromis :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+ PCA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2103120" y="53492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précision  ·  Temps d'exécution réduit  ·  Faible complexité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l'Étude et Travaux Futurs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E7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0312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ptx/icons/warn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architecture de Deep Learning étudiée (ResNet18)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réalisées sous Google Colab (contraintes matérielles)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4480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hyperparamètres non poussée au maximum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menée uniquement sur CIFAR-10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0B1F3A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2103120"/>
            <a:ext cx="685800" cy="68580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4" name="Image 1" descr="/home/claude/pptx/icons/lightbul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26771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83680" y="2926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plus récentes : ResNet50, EfficientNet, ViT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automatique des hyperparamètres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83680" y="4480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Approfondir les techniques d'interprétabilité (SHAP)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83680" y="5257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d'autres datasets de vision par ordinateur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approche hybride efficace et performante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des représentations profondes de qualité sans entraînement complet. Les méthodes de </a:t>
            </a:r>
            <a:r>
              <a:rPr lang="en-US" sz="1700" b="1" dirty="0">
                <a:solidFill>
                  <a:srgbClr val="29C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révèlent particulièrement performantes, avec un meilleur résultat de </a:t>
            </a: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85.92 % (LightGBM + PCA)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0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4125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264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automatique de deep features par ResNet18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32918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34125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32644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PCA vs UMAP pour la réduction de dimension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2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178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 4 algorithmes de Machine Learning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17920" y="420624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3" descr="/home/claude/pptx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432694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4178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via SHAP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5394960"/>
            <a:ext cx="10881360" cy="9144"/>
          </a:xfrm>
          <a:prstGeom prst="rect">
            <a:avLst/>
          </a:prstGeom>
          <a:noFill/>
          <a:ln w="12700">
            <a:solidFill>
              <a:srgbClr val="2A3F6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0080" y="5623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C5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640080" y="6263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15516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1113</Words>
  <Application>Microsoft Office PowerPoint</Application>
  <PresentationFormat>Custom</PresentationFormat>
  <Paragraphs>238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Hybride Deep Learning - Machine Learning pour CIFAR-10</dc:title>
  <dc:subject>PptxGenJS Presentation</dc:subject>
  <dc:creator>Étudiants</dc:creator>
  <cp:lastModifiedBy>User1</cp:lastModifiedBy>
  <cp:revision>2</cp:revision>
  <dcterms:created xsi:type="dcterms:W3CDTF">2026-06-13T06:22:23Z</dcterms:created>
  <dcterms:modified xsi:type="dcterms:W3CDTF">2026-06-13T18:23:28Z</dcterms:modified>
</cp:coreProperties>
</file>